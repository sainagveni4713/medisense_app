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1669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MediSense as an AI-powered clinical decision support tool for diabetes and heart disease risk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global scale of the problem. AI tools can democratize access to risk screening.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of the four core capabilities. Highlight the XAI component as a key differentiator for clinical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data quality steps — especially the median imputation for physiologically impossible zeros in glucose and BMI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pipeline step. Emphasize that the same pipeline applies to both disease models with tuned hyperparameters.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heart disease model outperforms the diabetes model — likely due to more distinct feature separation in the Cleveland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opportunity — navigate through each page in the app while presenting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Ethical AI is non-negotiable in healthcare. Stress that this tool assists — never replaces — clinical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open-source technologies — zero licensing cost. The stack is production-ready with minor additions (authentication, logging).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with impact and next steps.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54864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749808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103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MediSense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74320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Decision Support System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Disease Risk Assessment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06240" y="1097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Risk.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Lives.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206240" y="26060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platform for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Diabetes and Heart Disease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Random Forest classification, XAI, and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clinical recommendations.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06240" y="416052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4206240" y="4160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Diabetes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06440" y="416052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5806440" y="4160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Heart Disease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89520" y="4160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07008"/>
            <a:ext cx="327307" cy="3273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600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20040" y="21945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with Diabetes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07008"/>
            <a:ext cx="326096" cy="3260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46120" y="1600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17.9M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246120" y="21945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Year from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07008"/>
            <a:ext cx="324885" cy="3248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1600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6172200" y="21945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Premature CV Deaths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Preventable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57200" y="3742378"/>
            <a:ext cx="8229600" cy="1149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diagnosis: Most patients are diagnosed only after complications develop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gap: Clinical expertise is scarce in rural and underserved communities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screening: Traditional approaches are slow, costly, and inconsistent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underutilization: Rich clinical datasets exist but are rarely leveraged for predictive screening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What MediSense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49" y="1362456"/>
            <a:ext cx="196687" cy="1966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280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Assessment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4128" y="16459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Type 2 Diabetes risk using glucose, BMI, age, insulin resistance, pregnancy history, skin thickness, and genetic pedigree factors.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14300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784" y="1373236"/>
            <a:ext cx="201592" cy="201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1280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58968" y="16459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cardiovascular risk via blood pressure, cholesterol, ECG markers (ST depression, slope), chest pain type, and demographics.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74320" y="306324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" y="3250692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24128" y="35661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includes feature importance scores showing exactly which clinical variables drove the risk score — transparent and auditable.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06324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638" y="3280198"/>
            <a:ext cx="251884" cy="2518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8968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Recommendations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58968" y="35661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Evidence-based, guideline-aligned advice (ACC/AHA, WHO) tailored to low, moderate, and high risk levels for each patient.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Data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371600"/>
            <a:ext cx="420624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12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4414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2441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clinical features + 1 target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770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2770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/ Non-Diabetic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099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3099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429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 ·  Glucose  ·  Blood Pressure  ·  Skin Thickness  ·  Insulin  ·  BMI  ·  Diabetes Pedigree  ·  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5156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1371600"/>
            <a:ext cx="420624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Dataset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 Clinic Foundation / UCI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112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4414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2441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selected features + 1 target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770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2770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/ No Heart Disease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099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3099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~54%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429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7033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·  Gender  ·  Chest Pain  ·  Systolic BP  ·  Diastolic BP  ·  Cholesterol  ·  Max Heart Rate  ·  ST Depression  ·  ST Slope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" y="481888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72" y="121615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810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 datasets from UCI/Kaggle repositories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72968" y="10972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0128" y="123444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3310128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21615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0128" y="1810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10128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· StandardScaler normalization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17336" y="10972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54496" y="123444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4"/>
          <p:cNvSpPr/>
          <p:nvPr/>
        </p:nvSpPr>
        <p:spPr>
          <a:xfrm>
            <a:off x="6254496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121615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1810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54496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(random_state=42)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28600" y="29718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310896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19"/>
          <p:cNvSpPr/>
          <p:nvPr/>
        </p:nvSpPr>
        <p:spPr>
          <a:xfrm>
            <a:off x="3657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4872" y="3090672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65760" y="36850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36576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200 trees · max_depth 5-6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172968" y="29718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310128" y="310896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0" name="Text 24"/>
          <p:cNvSpPr/>
          <p:nvPr/>
        </p:nvSpPr>
        <p:spPr>
          <a:xfrm>
            <a:off x="3310128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3090672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310128" y="36850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310128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feature_importances_ for XAI transparency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117336" y="29718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54496" y="310896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6" name="Text 29"/>
          <p:cNvSpPr/>
          <p:nvPr/>
        </p:nvSpPr>
        <p:spPr>
          <a:xfrm>
            <a:off x="6254496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608" y="3090672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254496" y="36850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254496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F1 · AUC-ROC · 5-fold Cross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Evaluation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6304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84708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" y="141732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146304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~74%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4708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141732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20240" y="146304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20240" y="184708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0" y="141732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0" y="146304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~71%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184708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66160" y="141732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66160" y="146304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~76%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66160" y="184708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2468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Model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29260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~84%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" y="33101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97280" y="288036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97280" y="29260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33101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920240" y="288036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920240" y="29260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920240" y="33101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0" y="288036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43200" y="29260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~84%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743200" y="33101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566160" y="2880360"/>
            <a:ext cx="749808" cy="82296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566160" y="29260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~83%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566160" y="33101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Evaluation Methods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29200" y="1463040"/>
            <a:ext cx="38862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166360" y="15270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66360" y="17922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TP, FP, TN, FN breakdown for both models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0" y="2240280"/>
            <a:ext cx="38862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166360" y="23042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Curve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66360" y="25694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discriminative ability across all classification thresholds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0" y="3017520"/>
            <a:ext cx="38862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166360" y="3081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66360" y="33467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estimate of generalization performance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0" y="3794760"/>
            <a:ext cx="38862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166360" y="38587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66360" y="41239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precision, recall, F1 with macro/weighted averages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Pages &amp;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50008" y="1234440"/>
            <a:ext cx="411480" cy="41148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2350008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" y="166420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overview, class distribution charts, ML pipeline summary, stat cards for accuracy and record counts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1097280"/>
            <a:ext cx="274320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94376" y="1234440"/>
            <a:ext cx="411480" cy="41148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5294376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Diabetes Prediction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37560" y="166420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8-field patient form, risk gauge (0-100%), feature importance chart, input vs. dataset comparison, recommendations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1097280"/>
            <a:ext cx="274320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38744" y="1234440"/>
            <a:ext cx="411480" cy="41148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38744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81928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Heart Prediction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81928" y="166420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9-field clinical form (BP, cholesterol, ECG), risk gauge, feature importance, evidence-based cardiology advice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017520"/>
            <a:ext cx="274320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50008" y="3154680"/>
            <a:ext cx="411480" cy="41148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21" name="Text 19"/>
          <p:cNvSpPr/>
          <p:nvPr/>
        </p:nvSpPr>
        <p:spPr>
          <a:xfrm>
            <a:off x="2350008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" y="3182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Analytics Dashboard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3192" y="35844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Glucose/BMI scatter, age histograms, cholesterol boxplots, correlation heatmap, chest pain distribution charts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3017520"/>
            <a:ext cx="274320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94376" y="3154680"/>
            <a:ext cx="411480" cy="41148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26" name="Text 24"/>
          <p:cNvSpPr/>
          <p:nvPr/>
        </p:nvSpPr>
        <p:spPr>
          <a:xfrm>
            <a:off x="5294376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3182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Model Performance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37560" y="35844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ROC-AUC curve, feature importance bar chart, classification report — per model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3017520"/>
            <a:ext cx="274320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38744" y="3154680"/>
            <a:ext cx="411480" cy="41148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31" name="Text 29"/>
          <p:cNvSpPr/>
          <p:nvPr/>
        </p:nvSpPr>
        <p:spPr>
          <a:xfrm>
            <a:off x="8238744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81928" y="3182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Privacy &amp; Ethics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81928" y="35844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retention policy, XAI transparency, dataset licensing, bias disclosure, HIPAA alignment notes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Privacy &amp; Responsible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1097280"/>
            <a:ext cx="272491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22" y="1311255"/>
            <a:ext cx="212130" cy="212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261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Retention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72" y="1737360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computation runs in-session. No PHI is stored in databases or transmitted to any server. Session data clears on tab close.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27248" y="1097280"/>
            <a:ext cx="272491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245" y="1307592"/>
            <a:ext cx="245254" cy="245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261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73552" y="1737360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included with every prediction — satisfying clinical AI transparency requirements and building clinician trust.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53328" y="1097280"/>
            <a:ext cx="272491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9176" y="1307593"/>
            <a:ext cx="289551" cy="245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261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Fairness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99632" y="1737360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model trained on Pima Indian females ≥21 only. Heart model has male demographic skew. Limitations disclosed prominently.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01168" y="3017520"/>
            <a:ext cx="272491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086" y="3241336"/>
            <a:ext cx="263602" cy="2636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Boundaries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47472" y="3657600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MediSense is decision support, not diagnosis. All predictions require clinical confirmation by a qualified healthcare professional.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127248" y="3017520"/>
            <a:ext cx="272491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9041" y="3241336"/>
            <a:ext cx="301934" cy="2636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40480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Alignment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273552" y="3657600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PHI transmitted or at rest — operating outside HIPAA data obligations. BAAs/audit logs required for production deployment.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53328" y="3017520"/>
            <a:ext cx="272491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2771" y="3241336"/>
            <a:ext cx="275955" cy="27595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Guidance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199632" y="3657600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aligned with ACC/AHA 2023, WHO, and ADA clinical guidelines — not generated arbitrarily by the model.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0"/>
            <a:ext cx="420624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(Python web framework)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(Inter font, teal theme)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multi-page layout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20624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371600"/>
            <a:ext cx="4206240" cy="182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642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RandomForestClassifier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20624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6324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0D3B38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3337560"/>
            <a:ext cx="4206240" cy="182880"/>
          </a:xfrm>
          <a:prstGeom prst="rect">
            <a:avLst/>
          </a:prstGeom>
          <a:solidFill>
            <a:srgbClr val="0D3B3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36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63016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 &amp; Graph Objects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gauges, heatmaps, ROC curves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chart toolbar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063240"/>
            <a:ext cx="420624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6324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3337560"/>
            <a:ext cx="420624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136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63016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for zero values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train/test split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457200"/>
            <a:ext cx="4114800" cy="4114800"/>
          </a:xfrm>
          <a:prstGeom prst="ellipse">
            <a:avLst/>
          </a:prstGeom>
          <a:solidFill>
            <a:srgbClr val="0F766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030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for 2 disease domains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with ~78% diabetes / ~84% heart accuracy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feature importance for every prediction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clinical recommendations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AI: bias disclosure, zero data retention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for individual prediction explainability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/ FHIR integration for real clinical workflows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(ANN, XGBoost) for comparison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UI for field deployment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329184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40156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89320" y="39136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MediSense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98932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better outcomes.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1146</Words>
  <Application>Microsoft Office PowerPoint</Application>
  <PresentationFormat>On-screen Show (16:9)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MediSense — Health Decision Support System</dc:title>
  <dc:subject>PptxGenJS Presentation</dc:subject>
  <dc:creator>MediSense Team</dc:creator>
  <cp:lastModifiedBy>TULASI RAYA</cp:lastModifiedBy>
  <cp:revision>11</cp:revision>
  <dcterms:created xsi:type="dcterms:W3CDTF">2026-06-11T08:14:28Z</dcterms:created>
  <dcterms:modified xsi:type="dcterms:W3CDTF">2026-06-11T08:48:09Z</dcterms:modified>
</cp:coreProperties>
</file>